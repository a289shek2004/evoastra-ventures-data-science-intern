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" charset="1" panose="020B0503030501040103"/>
      <p:regular r:id="rId21"/>
    </p:embeddedFont>
    <p:embeddedFont>
      <p:font typeface="HK Grotesk Bold Italics" charset="1" panose="00000800000000000000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21235" y="4045399"/>
            <a:ext cx="859346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Internsh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ip Project 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28680" y="8734425"/>
            <a:ext cx="30084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Abhishek Gupta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59077"/>
            <a:ext cx="16094756" cy="101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Mice Protein Expression Classification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7968" y="733425"/>
            <a:ext cx="441912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EvoAstra Ventures pvt ltd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9320" y="2554580"/>
            <a:ext cx="1523535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Multiclass classification of mice using brain protein expression data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Dataset: 1080 samples, 82 features (77 proteins)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Target: 8 experimental groups (based on genotype, treatment, behavior)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Domain: Biomedical research (e.g., Down syndrome, drug effects)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608951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4668" y="2295208"/>
            <a:ext cx="12696349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Classify mice into 8 experimental groups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Understand which proteins contribute to group differences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Enable biomedical insights through ML-based classification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Model used: Random Forest + comparisons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4563615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57663" y="2447984"/>
            <a:ext cx="15001637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Source: Data_Cortex.csv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Rows: 1080 mice samples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Features: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77 Protein expression levels (continuous)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5 categorical features: MouseID, Genotype, Treatment, Behavior, class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Target: Class (e.g., c-CS-m, t-SC-s)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671742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Dataset Description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5083" y="1786255"/>
            <a:ext cx="8702516" cy="33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DYRK1A_N: Down syndrome biomarker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BDNF_N: Brain-derived neurotrophic factor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GFAP_N: Glial activation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APP_N: Alzheimer’s protein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pAKT_N: Cell signaling marker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7450332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Sample Proteins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49761" y="4044146"/>
            <a:ext cx="13185477" cy="5452667"/>
          </a:xfrm>
          <a:custGeom>
            <a:avLst/>
            <a:gdLst/>
            <a:ahLst/>
            <a:cxnLst/>
            <a:rect r="r" b="b" t="t" l="l"/>
            <a:pathLst>
              <a:path h="5452667" w="13185477">
                <a:moveTo>
                  <a:pt x="0" y="0"/>
                </a:moveTo>
                <a:lnTo>
                  <a:pt x="13185478" y="0"/>
                </a:lnTo>
                <a:lnTo>
                  <a:pt x="13185478" y="5452667"/>
                </a:lnTo>
                <a:lnTo>
                  <a:pt x="0" y="5452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41" t="0" r="-371" b="-13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8724" y="1553676"/>
            <a:ext cx="8646676" cy="22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Mi</a:t>
            </a: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ssing values: Mean imputation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Label encoding for categorical data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Standardization applied to protein features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No major class imbalance detected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4837"/>
            <a:ext cx="7210089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Dat</a:t>
            </a: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 Preprocessing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4982" y="3594666"/>
            <a:ext cx="6847794" cy="5648781"/>
          </a:xfrm>
          <a:custGeom>
            <a:avLst/>
            <a:gdLst/>
            <a:ahLst/>
            <a:cxnLst/>
            <a:rect r="r" b="b" t="t" l="l"/>
            <a:pathLst>
              <a:path h="5648781" w="6847794">
                <a:moveTo>
                  <a:pt x="0" y="0"/>
                </a:moveTo>
                <a:lnTo>
                  <a:pt x="6847794" y="0"/>
                </a:lnTo>
                <a:lnTo>
                  <a:pt x="6847794" y="5648781"/>
                </a:lnTo>
                <a:lnTo>
                  <a:pt x="0" y="5648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4" t="0" r="-94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66699"/>
            <a:ext cx="914400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Ex</a:t>
            </a: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ploratory Data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74982" y="2007166"/>
            <a:ext cx="7047345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Distribution of protein values: Mostly normal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2849" y="2007166"/>
            <a:ext cx="72077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Boxplot insights: Class-specific expression variation (e.g., DYRK1A)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31121" y="3347278"/>
            <a:ext cx="6671234" cy="5911022"/>
          </a:xfrm>
          <a:custGeom>
            <a:avLst/>
            <a:gdLst/>
            <a:ahLst/>
            <a:cxnLst/>
            <a:rect r="r" b="b" t="t" l="l"/>
            <a:pathLst>
              <a:path h="5911022" w="6671234">
                <a:moveTo>
                  <a:pt x="0" y="0"/>
                </a:moveTo>
                <a:lnTo>
                  <a:pt x="6671234" y="0"/>
                </a:lnTo>
                <a:lnTo>
                  <a:pt x="6671234" y="5911022"/>
                </a:lnTo>
                <a:lnTo>
                  <a:pt x="0" y="5911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86" t="0" r="-1686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61589" y="1301887"/>
            <a:ext cx="9188118" cy="8512503"/>
          </a:xfrm>
          <a:custGeom>
            <a:avLst/>
            <a:gdLst/>
            <a:ahLst/>
            <a:cxnLst/>
            <a:rect r="r" b="b" t="t" l="l"/>
            <a:pathLst>
              <a:path h="8512503" w="9188118">
                <a:moveTo>
                  <a:pt x="0" y="0"/>
                </a:moveTo>
                <a:lnTo>
                  <a:pt x="9188119" y="0"/>
                </a:lnTo>
                <a:lnTo>
                  <a:pt x="9188119" y="8512503"/>
                </a:lnTo>
                <a:lnTo>
                  <a:pt x="0" y="8512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3181" y="209550"/>
            <a:ext cx="17135228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Correlation heatmap: Many proteins highly correlated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9548189" cy="79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b="true" sz="4698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</a:t>
            </a:r>
            <a:r>
              <a:rPr lang="en-US" b="true" sz="4698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odeling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85602" y="1952475"/>
            <a:ext cx="9357956" cy="503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Models Used: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scikit-learn used for implementation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Random Forest (best)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SVM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Logistic Regression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KNN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Train/test split: 80–20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Hyperparameter tuning for Random Forest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3384" y="4998721"/>
            <a:ext cx="6276961" cy="4740413"/>
          </a:xfrm>
          <a:custGeom>
            <a:avLst/>
            <a:gdLst/>
            <a:ahLst/>
            <a:cxnLst/>
            <a:rect r="r" b="b" t="t" l="l"/>
            <a:pathLst>
              <a:path h="4740413" w="6276961">
                <a:moveTo>
                  <a:pt x="0" y="0"/>
                </a:moveTo>
                <a:lnTo>
                  <a:pt x="6276961" y="0"/>
                </a:lnTo>
                <a:lnTo>
                  <a:pt x="6276961" y="4740414"/>
                </a:lnTo>
                <a:lnTo>
                  <a:pt x="0" y="4740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86093" y="4998721"/>
            <a:ext cx="5458194" cy="4986904"/>
          </a:xfrm>
          <a:custGeom>
            <a:avLst/>
            <a:gdLst/>
            <a:ahLst/>
            <a:cxnLst/>
            <a:rect r="r" b="b" t="t" l="l"/>
            <a:pathLst>
              <a:path h="4986904" w="5458194">
                <a:moveTo>
                  <a:pt x="0" y="0"/>
                </a:moveTo>
                <a:lnTo>
                  <a:pt x="5458195" y="0"/>
                </a:lnTo>
                <a:lnTo>
                  <a:pt x="5458195" y="4986905"/>
                </a:lnTo>
                <a:lnTo>
                  <a:pt x="0" y="4986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33651"/>
            <a:ext cx="9548189" cy="79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b="true" sz="4698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</a:t>
            </a:r>
            <a:r>
              <a:rPr lang="en-US" b="true" sz="4698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odel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3384" y="1339215"/>
            <a:ext cx="9116139" cy="33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Random Forest Accuracy: 93%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Other Models: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SVM: 88%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KNN: 86%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Logistic Regression: 85%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Metrics: Accuracy, Precision, Recall, F1-Score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04332" y="4459201"/>
            <a:ext cx="9554968" cy="5697150"/>
          </a:xfrm>
          <a:custGeom>
            <a:avLst/>
            <a:gdLst/>
            <a:ahLst/>
            <a:cxnLst/>
            <a:rect r="r" b="b" t="t" l="l"/>
            <a:pathLst>
              <a:path h="5697150" w="9554968">
                <a:moveTo>
                  <a:pt x="0" y="0"/>
                </a:moveTo>
                <a:lnTo>
                  <a:pt x="9554968" y="0"/>
                </a:lnTo>
                <a:lnTo>
                  <a:pt x="955496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39342"/>
            <a:ext cx="9548189" cy="79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b="true" sz="4698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F</a:t>
            </a:r>
            <a:r>
              <a:rPr lang="en-US" b="true" sz="4698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eature Importance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3384" y="1844906"/>
            <a:ext cx="13065085" cy="22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</a:t>
            </a: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op proteins influencing prediction: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DYRK1A, BDNF, GFAP, APP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F</a:t>
            </a: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eature importance extracted from Random Forest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Aligns with domain knowledge (e.g., Alzheimer’s &amp; Down syndrome)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3384" y="4715706"/>
            <a:ext cx="3986212" cy="51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SOD1_N        0.049059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 pERK_N       0.042561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BRAF_N        0.040231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pPKCG_N     0.033584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CaNA_N        0.029513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Tau_N            0.028471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DYRK1A_N   0.027245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P38_N           0.025977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pCAMKII_N  0.025186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AKT_N          0.023511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5524688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Challenges Faced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5324" y="2496820"/>
            <a:ext cx="13819466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🧬</a:t>
            </a: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Handling missing values for multiple proteins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📈High dimensionality of protein data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🤔Interpretability of models for non-technical stakeholders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Potential overlap among classes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284738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4218" y="1999211"/>
            <a:ext cx="15375082" cy="696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Machine Learning successfully classified mice into 8 experimental groups using protein expression data from the brain cortex.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Random Forest Classifier delivered the best performance with ~93% accuracy.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Feature importance analysis revealed biologically relevant proteins like:</a:t>
            </a:r>
          </a:p>
          <a:p>
            <a:pPr algn="just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SOD1 (oxidative stress)</a:t>
            </a:r>
          </a:p>
          <a:p>
            <a:pPr algn="just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DYRK1A (linked to Down syndrome)</a:t>
            </a:r>
          </a:p>
          <a:p>
            <a:pPr algn="just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Tau (associated with Alzheimer’s)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The project pipeline integrates:</a:t>
            </a:r>
          </a:p>
          <a:p>
            <a:pPr algn="just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Data preprocessing</a:t>
            </a:r>
          </a:p>
          <a:p>
            <a:pPr algn="just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Exploratory Data Analysis (EDA)</a:t>
            </a:r>
          </a:p>
          <a:p>
            <a:pPr algn="just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Model training, evaluation, and interpretation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9752" y="1876136"/>
            <a:ext cx="16236575" cy="696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🔍 Feature Optim</a:t>
            </a: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ization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Apply PCA, Lasso Regression, or Recursive Feature Elimination (RFE) for dimensionality reduction and interpretability.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🧠 Advanced Modeling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Explore Deep Learning models (e.g., MLPs, CNNs) for learning complex, non-linear patterns in high-dimensional protein data.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🧬 Dataset Expansion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Extend the model to human protein datasets for translational research in Alzheimer’s, Down syndrome, etc.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📊 Biological Insight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Perform individual protein impact studies to understand their biological significance and validate with literature.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455776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Future Scope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9578472" cy="1760044"/>
          </a:xfrm>
          <a:custGeom>
            <a:avLst/>
            <a:gdLst/>
            <a:ahLst/>
            <a:cxnLst/>
            <a:rect r="r" b="b" t="t" l="l"/>
            <a:pathLst>
              <a:path h="1760044" w="9578472">
                <a:moveTo>
                  <a:pt x="0" y="0"/>
                </a:moveTo>
                <a:lnTo>
                  <a:pt x="9578472" y="0"/>
                </a:lnTo>
                <a:lnTo>
                  <a:pt x="9578472" y="1760044"/>
                </a:lnTo>
                <a:lnTo>
                  <a:pt x="0" y="1760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36763" y="7283017"/>
            <a:ext cx="2120146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 i="true">
                <a:solidFill>
                  <a:srgbClr val="E2E1EB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The End👋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03981" y="8734425"/>
            <a:ext cx="55972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E2E1EB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abhishekgp20004@gmail.com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2146" y="838200"/>
            <a:ext cx="1743670" cy="170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E2E1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6349" y="3759071"/>
            <a:ext cx="997100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Kindly, Give some suggetion or feedback.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6349" y="4765675"/>
            <a:ext cx="1068705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you have any question, you can ask freely.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DAGpSepbYls</dc:identifier>
  <dcterms:modified xsi:type="dcterms:W3CDTF">2011-08-01T06:04:30Z</dcterms:modified>
  <cp:revision>1</cp:revision>
  <dc:title>Title: Mice Protein Expression Classification Subtitle: Internship Project Report Presented by: Your Name Visual: Background image related to data science/biology (optional)</dc:title>
</cp:coreProperties>
</file>