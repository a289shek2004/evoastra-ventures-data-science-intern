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K Grotesk Bold" panose="020B0604020202020204" charset="0"/>
      <p:regular r:id="rId18"/>
    </p:embeddedFont>
    <p:embeddedFont>
      <p:font typeface="HK Grotesk Medi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6469912" cy="377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67"/>
              </a:lnSpc>
              <a:spcBef>
                <a:spcPct val="0"/>
              </a:spcBef>
            </a:pPr>
            <a:r>
              <a:rPr lang="en-US" sz="6222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Solving an Image Captioning Task Using Deep Learning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98024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1925" y="0"/>
                  </a:moveTo>
                  <a:lnTo>
                    <a:pt x="4262801" y="0"/>
                  </a:lnTo>
                  <a:cubicBezTo>
                    <a:pt x="4269387" y="0"/>
                    <a:pt x="4274726" y="5339"/>
                    <a:pt x="4274726" y="11925"/>
                  </a:cubicBezTo>
                  <a:lnTo>
                    <a:pt x="4274726" y="2155542"/>
                  </a:lnTo>
                  <a:cubicBezTo>
                    <a:pt x="4274726" y="2162128"/>
                    <a:pt x="4269387" y="2167467"/>
                    <a:pt x="4262801" y="2167467"/>
                  </a:cubicBezTo>
                  <a:lnTo>
                    <a:pt x="11925" y="2167467"/>
                  </a:lnTo>
                  <a:cubicBezTo>
                    <a:pt x="5339" y="2167467"/>
                    <a:pt x="0" y="2162128"/>
                    <a:pt x="0" y="2155542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5CB6F9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67800" y="2371725"/>
            <a:ext cx="7372995" cy="1663931"/>
            <a:chOff x="0" y="-38100"/>
            <a:chExt cx="9830660" cy="2218574"/>
          </a:xfrm>
        </p:grpSpPr>
        <p:sp>
          <p:nvSpPr>
            <p:cNvPr id="7" name="TextBox 7"/>
            <p:cNvSpPr txBox="1"/>
            <p:nvPr/>
          </p:nvSpPr>
          <p:spPr>
            <a:xfrm>
              <a:off x="0" y="-38100"/>
              <a:ext cx="983066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spc="240">
                  <a:solidFill>
                    <a:srgbClr val="12229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PROJECT PRESENTATION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45265"/>
              <a:ext cx="9830660" cy="12352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49"/>
                </a:lnSpc>
              </a:pPr>
              <a:r>
                <a:rPr lang="en-US" sz="2499" b="1" dirty="0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Team Members: Nayan Pandey, Saifee Mohammad Khizar, </a:t>
              </a:r>
              <a:r>
                <a:rPr lang="en-US" sz="2499" b="1" dirty="0" err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Krish</a:t>
              </a:r>
              <a:r>
                <a:rPr lang="en-US" sz="2499" b="1" dirty="0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 Tare, Arshad Shaikh, Abhishek Gupta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6349315"/>
            <a:ext cx="4691911" cy="2908985"/>
          </a:xfrm>
          <a:custGeom>
            <a:avLst/>
            <a:gdLst/>
            <a:ahLst/>
            <a:cxnLst/>
            <a:rect l="l" t="t" r="r" b="b"/>
            <a:pathLst>
              <a:path w="4691911" h="2908985">
                <a:moveTo>
                  <a:pt x="0" y="0"/>
                </a:moveTo>
                <a:lnTo>
                  <a:pt x="4691911" y="0"/>
                </a:lnTo>
                <a:lnTo>
                  <a:pt x="4691911" y="2908985"/>
                </a:lnTo>
                <a:lnTo>
                  <a:pt x="0" y="2908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947290" y="6860683"/>
            <a:ext cx="6843109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3443891"/>
            <a:ext cx="18246628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5400000">
            <a:off x="5243715" y="7053476"/>
            <a:ext cx="7228694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400000">
            <a:off x="10172548" y="6860683"/>
            <a:ext cx="6843109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730426" y="1019175"/>
            <a:ext cx="12827148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</a:pPr>
            <a:r>
              <a:rPr lang="en-US" sz="90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26516" y="4809269"/>
            <a:ext cx="3373149" cy="3812563"/>
            <a:chOff x="0" y="0"/>
            <a:chExt cx="4497532" cy="5083417"/>
          </a:xfrm>
        </p:grpSpPr>
        <p:sp>
          <p:nvSpPr>
            <p:cNvPr id="8" name="Freeform 8"/>
            <p:cNvSpPr/>
            <p:nvPr/>
          </p:nvSpPr>
          <p:spPr>
            <a:xfrm>
              <a:off x="1626777" y="0"/>
              <a:ext cx="1243978" cy="1810021"/>
            </a:xfrm>
            <a:custGeom>
              <a:avLst/>
              <a:gdLst/>
              <a:ahLst/>
              <a:cxnLst/>
              <a:rect l="l" t="t" r="r" b="b"/>
              <a:pathLst>
                <a:path w="1243978" h="1810021">
                  <a:moveTo>
                    <a:pt x="0" y="0"/>
                  </a:moveTo>
                  <a:lnTo>
                    <a:pt x="1243978" y="0"/>
                  </a:lnTo>
                  <a:lnTo>
                    <a:pt x="1243978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813116"/>
              <a:ext cx="4497532" cy="2270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8"/>
                </a:lnSpc>
              </a:pPr>
              <a:r>
                <a:rPr lang="en-US" sz="2614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Goal: Build a deep learning model that generates descriptive captions for images.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26879" y="4714461"/>
            <a:ext cx="3373149" cy="3031486"/>
            <a:chOff x="0" y="0"/>
            <a:chExt cx="4497532" cy="4041981"/>
          </a:xfrm>
        </p:grpSpPr>
        <p:sp>
          <p:nvSpPr>
            <p:cNvPr id="11" name="Freeform 11"/>
            <p:cNvSpPr/>
            <p:nvPr/>
          </p:nvSpPr>
          <p:spPr>
            <a:xfrm>
              <a:off x="1508303" y="0"/>
              <a:ext cx="1480926" cy="1810021"/>
            </a:xfrm>
            <a:custGeom>
              <a:avLst/>
              <a:gdLst/>
              <a:ahLst/>
              <a:cxnLst/>
              <a:rect l="l" t="t" r="r" b="b"/>
              <a:pathLst>
                <a:path w="1480926" h="1810021">
                  <a:moveTo>
                    <a:pt x="0" y="0"/>
                  </a:moveTo>
                  <a:lnTo>
                    <a:pt x="1480926" y="0"/>
                  </a:lnTo>
                  <a:lnTo>
                    <a:pt x="1480926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2939527"/>
              <a:ext cx="4497532" cy="1102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6"/>
                </a:lnSpc>
              </a:pPr>
              <a:r>
                <a:rPr lang="en-US" sz="2581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Fields involved: Computer Vision + NLP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39508" y="4714461"/>
            <a:ext cx="3373149" cy="2621496"/>
            <a:chOff x="0" y="0"/>
            <a:chExt cx="4497532" cy="3495328"/>
          </a:xfrm>
        </p:grpSpPr>
        <p:sp>
          <p:nvSpPr>
            <p:cNvPr id="14" name="Freeform 14"/>
            <p:cNvSpPr/>
            <p:nvPr/>
          </p:nvSpPr>
          <p:spPr>
            <a:xfrm>
              <a:off x="1343756" y="0"/>
              <a:ext cx="1810021" cy="1717874"/>
            </a:xfrm>
            <a:custGeom>
              <a:avLst/>
              <a:gdLst/>
              <a:ahLst/>
              <a:cxnLst/>
              <a:rect l="l" t="t" r="r" b="b"/>
              <a:pathLst>
                <a:path w="1810021" h="1717874">
                  <a:moveTo>
                    <a:pt x="0" y="0"/>
                  </a:moveTo>
                  <a:lnTo>
                    <a:pt x="1810020" y="0"/>
                  </a:lnTo>
                  <a:lnTo>
                    <a:pt x="1810020" y="1717874"/>
                  </a:lnTo>
                  <a:lnTo>
                    <a:pt x="0" y="1717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2939527"/>
              <a:ext cx="4497532" cy="555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8"/>
                </a:lnSpc>
              </a:pPr>
              <a:r>
                <a:rPr lang="en-US" sz="2614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Dataset: Flickr8k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216310" y="4809269"/>
            <a:ext cx="3373149" cy="3383938"/>
            <a:chOff x="0" y="0"/>
            <a:chExt cx="4497532" cy="4511917"/>
          </a:xfrm>
        </p:grpSpPr>
        <p:sp>
          <p:nvSpPr>
            <p:cNvPr id="17" name="Freeform 17"/>
            <p:cNvSpPr/>
            <p:nvPr/>
          </p:nvSpPr>
          <p:spPr>
            <a:xfrm>
              <a:off x="1422738" y="0"/>
              <a:ext cx="1652055" cy="1810021"/>
            </a:xfrm>
            <a:custGeom>
              <a:avLst/>
              <a:gdLst/>
              <a:ahLst/>
              <a:cxnLst/>
              <a:rect l="l" t="t" r="r" b="b"/>
              <a:pathLst>
                <a:path w="1652055" h="1810021">
                  <a:moveTo>
                    <a:pt x="0" y="0"/>
                  </a:moveTo>
                  <a:lnTo>
                    <a:pt x="1652056" y="0"/>
                  </a:lnTo>
                  <a:lnTo>
                    <a:pt x="1652056" y="1810021"/>
                  </a:lnTo>
                  <a:lnTo>
                    <a:pt x="0" y="181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2813116"/>
              <a:ext cx="4497532" cy="1698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8"/>
                </a:lnSpc>
              </a:pPr>
              <a:r>
                <a:rPr lang="en-US" sz="2614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Tools: CNN (InceptionV3), LSTM, Attention Mechanism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8373" y="1262760"/>
            <a:ext cx="14691254" cy="1457325"/>
            <a:chOff x="0" y="0"/>
            <a:chExt cx="19588339" cy="1943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9588339" cy="1533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00"/>
                </a:lnSpc>
                <a:spcBef>
                  <a:spcPct val="0"/>
                </a:spcBef>
              </a:pPr>
              <a:r>
                <a:rPr lang="en-US" sz="7500" b="1" u="none" strike="noStrike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Objectives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584325"/>
              <a:ext cx="19588339" cy="35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90275" y="5076825"/>
            <a:ext cx="266963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Preprocess the Flickr8k dataset.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0275" y="7533834"/>
            <a:ext cx="2669633" cy="734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3"/>
              </a:lnSpc>
              <a:spcBef>
                <a:spcPct val="0"/>
              </a:spcBef>
            </a:pPr>
            <a:r>
              <a:rPr lang="en-US" sz="1962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Build encoder-decoder model (CNN + LSTM).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9184" y="5076825"/>
            <a:ext cx="2669633" cy="73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2"/>
              </a:lnSpc>
              <a:spcBef>
                <a:spcPct val="0"/>
              </a:spcBef>
            </a:pPr>
            <a:r>
              <a:rPr lang="en-US" sz="1975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Extract image features using pre-trained CNN.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09184" y="7533834"/>
            <a:ext cx="266963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Integrate attention mechanism.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31491" y="5076825"/>
            <a:ext cx="266963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Prepare captions (cleaning, tokenizing).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31491" y="7533834"/>
            <a:ext cx="266963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Evaluate using BLEU score &amp; manual review.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67557" y="3455350"/>
            <a:ext cx="952886" cy="952886"/>
          </a:xfrm>
          <a:custGeom>
            <a:avLst/>
            <a:gdLst/>
            <a:ahLst/>
            <a:cxnLst/>
            <a:rect l="l" t="t" r="r" b="b"/>
            <a:pathLst>
              <a:path w="952886" h="952886">
                <a:moveTo>
                  <a:pt x="0" y="0"/>
                </a:moveTo>
                <a:lnTo>
                  <a:pt x="952886" y="0"/>
                </a:lnTo>
                <a:lnTo>
                  <a:pt x="952886" y="952885"/>
                </a:lnTo>
                <a:lnTo>
                  <a:pt x="0" y="952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0275" y="5184467"/>
            <a:ext cx="2669633" cy="262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Dataset: Flickr8k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90275" y="7309720"/>
            <a:ext cx="2669633" cy="262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Files Used: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09184" y="5184467"/>
            <a:ext cx="2669633" cy="262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8,000 images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09184" y="7309720"/>
            <a:ext cx="2669633" cy="262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Flickr8k.token.txt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831491" y="5184467"/>
            <a:ext cx="2669633" cy="262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5 captions per image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31491" y="7309720"/>
            <a:ext cx="2669633" cy="262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Flickr8k_Dataset/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746099"/>
            <a:ext cx="162306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Dataset Overview</a:t>
            </a:r>
          </a:p>
        </p:txBody>
      </p:sp>
      <p:sp>
        <p:nvSpPr>
          <p:cNvPr id="9" name="AutoShape 9"/>
          <p:cNvSpPr/>
          <p:nvPr/>
        </p:nvSpPr>
        <p:spPr>
          <a:xfrm>
            <a:off x="2428886" y="6366794"/>
            <a:ext cx="13430227" cy="0"/>
          </a:xfrm>
          <a:prstGeom prst="line">
            <a:avLst/>
          </a:prstGeom>
          <a:ln w="1905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6785400" y="4331834"/>
            <a:ext cx="0" cy="4050871"/>
          </a:xfrm>
          <a:prstGeom prst="line">
            <a:avLst/>
          </a:prstGeom>
          <a:ln w="1905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11603400" y="4331834"/>
            <a:ext cx="0" cy="4050871"/>
          </a:xfrm>
          <a:prstGeom prst="line">
            <a:avLst/>
          </a:prstGeom>
          <a:ln w="1905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0392" y="1680480"/>
            <a:ext cx="13610879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99"/>
              </a:lnSpc>
            </a:pPr>
            <a:r>
              <a:rPr lang="en-US" sz="8499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Methodology - Image &amp; Caption Preprocessing</a:t>
            </a:r>
          </a:p>
        </p:txBody>
      </p:sp>
      <p:sp>
        <p:nvSpPr>
          <p:cNvPr id="3" name="AutoShape 3"/>
          <p:cNvSpPr/>
          <p:nvPr/>
        </p:nvSpPr>
        <p:spPr>
          <a:xfrm>
            <a:off x="1460392" y="1028700"/>
            <a:ext cx="15367217" cy="0"/>
          </a:xfrm>
          <a:prstGeom prst="line">
            <a:avLst/>
          </a:prstGeom>
          <a:ln w="2857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460392" y="4806632"/>
            <a:ext cx="15367217" cy="4451668"/>
            <a:chOff x="0" y="0"/>
            <a:chExt cx="20489622" cy="5935558"/>
          </a:xfrm>
        </p:grpSpPr>
        <p:sp>
          <p:nvSpPr>
            <p:cNvPr id="5" name="TextBox 5"/>
            <p:cNvSpPr txBox="1"/>
            <p:nvPr/>
          </p:nvSpPr>
          <p:spPr>
            <a:xfrm>
              <a:off x="0" y="653128"/>
              <a:ext cx="20489622" cy="4565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Image Preprocessing:</a:t>
              </a:r>
            </a:p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Used InceptionV3 (ImageNet weights)</a:t>
              </a:r>
            </a:p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Resized to 299x299 pixels</a:t>
              </a:r>
            </a:p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Feature extraction from penultimate layer</a:t>
              </a:r>
            </a:p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Caption Preprocessing:</a:t>
              </a:r>
            </a:p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Cleaned, lowercased, tokenized</a:t>
              </a:r>
            </a:p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Added &lt;start&gt; and &lt;end&gt; tokens</a:t>
              </a:r>
            </a:p>
            <a:p>
              <a:pPr marL="564916" lvl="1" indent="-282458" algn="l">
                <a:lnSpc>
                  <a:spcPts val="3401"/>
                </a:lnSpc>
                <a:buFont typeface="Arial"/>
                <a:buChar char="•"/>
              </a:pPr>
              <a:r>
                <a:rPr lang="en-US" sz="2616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Padded sequences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19050"/>
              <a:ext cx="20489622" cy="0"/>
            </a:xfrm>
            <a:prstGeom prst="line">
              <a:avLst/>
            </a:prstGeom>
            <a:ln w="38100" cap="rnd">
              <a:solidFill>
                <a:srgbClr val="050A3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0" y="5916508"/>
              <a:ext cx="20489622" cy="0"/>
            </a:xfrm>
            <a:prstGeom prst="line">
              <a:avLst/>
            </a:prstGeom>
            <a:ln w="38100" cap="rnd">
              <a:solidFill>
                <a:srgbClr val="050A30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626834"/>
            <a:ext cx="18288000" cy="1532033"/>
          </a:xfrm>
          <a:prstGeom prst="rect">
            <a:avLst/>
          </a:prstGeom>
          <a:solidFill>
            <a:srgbClr val="5CB6F9"/>
          </a:solidFill>
        </p:spPr>
      </p:sp>
      <p:sp>
        <p:nvSpPr>
          <p:cNvPr id="3" name="AutoShape 3"/>
          <p:cNvSpPr/>
          <p:nvPr/>
        </p:nvSpPr>
        <p:spPr>
          <a:xfrm>
            <a:off x="0" y="4158867"/>
            <a:ext cx="18288000" cy="1532033"/>
          </a:xfrm>
          <a:prstGeom prst="rect">
            <a:avLst/>
          </a:prstGeom>
          <a:solidFill>
            <a:srgbClr val="5CB6F9"/>
          </a:solidFill>
        </p:spPr>
      </p:sp>
      <p:sp>
        <p:nvSpPr>
          <p:cNvPr id="4" name="AutoShape 4"/>
          <p:cNvSpPr/>
          <p:nvPr/>
        </p:nvSpPr>
        <p:spPr>
          <a:xfrm>
            <a:off x="0" y="5690901"/>
            <a:ext cx="18288000" cy="1532033"/>
          </a:xfrm>
          <a:prstGeom prst="rect">
            <a:avLst/>
          </a:prstGeom>
          <a:solidFill>
            <a:srgbClr val="5CB6F9"/>
          </a:solidFill>
        </p:spPr>
      </p:sp>
      <p:sp>
        <p:nvSpPr>
          <p:cNvPr id="5" name="AutoShape 5"/>
          <p:cNvSpPr/>
          <p:nvPr/>
        </p:nvSpPr>
        <p:spPr>
          <a:xfrm>
            <a:off x="0" y="7222934"/>
            <a:ext cx="18288000" cy="1532033"/>
          </a:xfrm>
          <a:prstGeom prst="rect">
            <a:avLst/>
          </a:prstGeom>
          <a:solidFill>
            <a:srgbClr val="5CB6F9"/>
          </a:solidFill>
        </p:spPr>
      </p:sp>
      <p:sp>
        <p:nvSpPr>
          <p:cNvPr id="6" name="AutoShape 6"/>
          <p:cNvSpPr/>
          <p:nvPr/>
        </p:nvSpPr>
        <p:spPr>
          <a:xfrm>
            <a:off x="0" y="8754967"/>
            <a:ext cx="18288000" cy="1532033"/>
          </a:xfrm>
          <a:prstGeom prst="rect">
            <a:avLst/>
          </a:prstGeom>
          <a:solidFill>
            <a:srgbClr val="5CB6F9"/>
          </a:solidFill>
        </p:spPr>
      </p:sp>
      <p:sp>
        <p:nvSpPr>
          <p:cNvPr id="7" name="Freeform 7"/>
          <p:cNvSpPr/>
          <p:nvPr/>
        </p:nvSpPr>
        <p:spPr>
          <a:xfrm>
            <a:off x="1028700" y="2892272"/>
            <a:ext cx="1001158" cy="1001158"/>
          </a:xfrm>
          <a:custGeom>
            <a:avLst/>
            <a:gdLst/>
            <a:ahLst/>
            <a:cxnLst/>
            <a:rect l="l" t="t" r="r" b="b"/>
            <a:pathLst>
              <a:path w="1001158" h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03106"/>
            <a:ext cx="1623060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19510" y="3148376"/>
            <a:ext cx="1149280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b="1" u="non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Encoder: InceptionV3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0982" y="3135676"/>
            <a:ext cx="4765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spc="27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9510" y="4680409"/>
            <a:ext cx="1149280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b="1" u="non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Decoder: LSTM with Embedding + Attention Layer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4424305"/>
            <a:ext cx="1001158" cy="1001158"/>
          </a:xfrm>
          <a:custGeom>
            <a:avLst/>
            <a:gdLst/>
            <a:ahLst/>
            <a:cxnLst/>
            <a:rect l="l" t="t" r="r" b="b"/>
            <a:pathLst>
              <a:path w="1001158" h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77739" y="4667709"/>
            <a:ext cx="4765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spc="27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19510" y="6212442"/>
            <a:ext cx="1149280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b="1" u="non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Loss: SparseCategoricalCrossentropy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15456" y="5956338"/>
            <a:ext cx="1001158" cy="1001158"/>
          </a:xfrm>
          <a:custGeom>
            <a:avLst/>
            <a:gdLst/>
            <a:ahLst/>
            <a:cxnLst/>
            <a:rect l="l" t="t" r="r" b="b"/>
            <a:pathLst>
              <a:path w="1001158" h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77739" y="6199742"/>
            <a:ext cx="4765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spc="27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19510" y="7744475"/>
            <a:ext cx="1149280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b="1" u="non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Optimizer: Adam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7488371"/>
            <a:ext cx="1001158" cy="1001158"/>
          </a:xfrm>
          <a:custGeom>
            <a:avLst/>
            <a:gdLst/>
            <a:ahLst/>
            <a:cxnLst/>
            <a:rect l="l" t="t" r="r" b="b"/>
            <a:pathLst>
              <a:path w="1001158" h="1001158">
                <a:moveTo>
                  <a:pt x="0" y="0"/>
                </a:moveTo>
                <a:lnTo>
                  <a:pt x="1001158" y="0"/>
                </a:lnTo>
                <a:lnTo>
                  <a:pt x="1001158" y="1001158"/>
                </a:lnTo>
                <a:lnTo>
                  <a:pt x="0" y="100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277739" y="7731775"/>
            <a:ext cx="4765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spc="27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19510" y="9276509"/>
            <a:ext cx="1149280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b="1" u="non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Include a diagram of the Encoder-Decoder architecture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9020405"/>
            <a:ext cx="1001158" cy="1001158"/>
          </a:xfrm>
          <a:custGeom>
            <a:avLst/>
            <a:gdLst/>
            <a:ahLst/>
            <a:cxnLst/>
            <a:rect l="l" t="t" r="r" b="b"/>
            <a:pathLst>
              <a:path w="1001158" h="1001158">
                <a:moveTo>
                  <a:pt x="0" y="0"/>
                </a:moveTo>
                <a:lnTo>
                  <a:pt x="1001158" y="0"/>
                </a:lnTo>
                <a:lnTo>
                  <a:pt x="1001158" y="1001157"/>
                </a:lnTo>
                <a:lnTo>
                  <a:pt x="0" y="1001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77739" y="9263808"/>
            <a:ext cx="47659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spc="27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6406" y="2312088"/>
            <a:ext cx="10634768" cy="133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20"/>
              </a:lnSpc>
            </a:pPr>
            <a:r>
              <a:rPr lang="en-US" sz="9291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Training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997728" y="4577482"/>
            <a:ext cx="7560733" cy="400009"/>
            <a:chOff x="0" y="0"/>
            <a:chExt cx="10080978" cy="533345"/>
          </a:xfrm>
        </p:grpSpPr>
        <p:sp>
          <p:nvSpPr>
            <p:cNvPr id="4" name="TextBox 4"/>
            <p:cNvSpPr txBox="1"/>
            <p:nvPr/>
          </p:nvSpPr>
          <p:spPr>
            <a:xfrm>
              <a:off x="870611" y="9627"/>
              <a:ext cx="9210366" cy="485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4"/>
                </a:lnSpc>
              </a:pPr>
              <a:r>
                <a:rPr lang="en-US" sz="2265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Trained over 10 epochs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533345" cy="533345"/>
            </a:xfrm>
            <a:custGeom>
              <a:avLst/>
              <a:gdLst/>
              <a:ahLst/>
              <a:cxnLst/>
              <a:rect l="l" t="t" r="r" b="b"/>
              <a:pathLst>
                <a:path w="533345" h="533345">
                  <a:moveTo>
                    <a:pt x="0" y="0"/>
                  </a:moveTo>
                  <a:lnTo>
                    <a:pt x="533345" y="0"/>
                  </a:lnTo>
                  <a:lnTo>
                    <a:pt x="533345" y="533345"/>
                  </a:lnTo>
                  <a:lnTo>
                    <a:pt x="0" y="533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997728" y="5638627"/>
            <a:ext cx="7560733" cy="400009"/>
            <a:chOff x="0" y="0"/>
            <a:chExt cx="10080978" cy="533345"/>
          </a:xfrm>
        </p:grpSpPr>
        <p:sp>
          <p:nvSpPr>
            <p:cNvPr id="7" name="TextBox 7"/>
            <p:cNvSpPr txBox="1"/>
            <p:nvPr/>
          </p:nvSpPr>
          <p:spPr>
            <a:xfrm>
              <a:off x="870611" y="46627"/>
              <a:ext cx="9210366" cy="485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4"/>
                </a:lnSpc>
              </a:pPr>
              <a:r>
                <a:rPr lang="en-US" sz="2265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Early stopping applied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533345" cy="533345"/>
            </a:xfrm>
            <a:custGeom>
              <a:avLst/>
              <a:gdLst/>
              <a:ahLst/>
              <a:cxnLst/>
              <a:rect l="l" t="t" r="r" b="b"/>
              <a:pathLst>
                <a:path w="533345" h="533345">
                  <a:moveTo>
                    <a:pt x="0" y="0"/>
                  </a:moveTo>
                  <a:lnTo>
                    <a:pt x="533345" y="0"/>
                  </a:lnTo>
                  <a:lnTo>
                    <a:pt x="533345" y="533345"/>
                  </a:lnTo>
                  <a:lnTo>
                    <a:pt x="0" y="533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997728" y="6699771"/>
            <a:ext cx="7560733" cy="400009"/>
            <a:chOff x="0" y="0"/>
            <a:chExt cx="10080978" cy="533345"/>
          </a:xfrm>
        </p:grpSpPr>
        <p:sp>
          <p:nvSpPr>
            <p:cNvPr id="10" name="TextBox 10"/>
            <p:cNvSpPr txBox="1"/>
            <p:nvPr/>
          </p:nvSpPr>
          <p:spPr>
            <a:xfrm>
              <a:off x="870611" y="9627"/>
              <a:ext cx="9210366" cy="485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4"/>
                </a:lnSpc>
              </a:pPr>
              <a:r>
                <a:rPr lang="en-US" sz="2265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Evaluated using BLEU Score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533345" cy="533345"/>
            </a:xfrm>
            <a:custGeom>
              <a:avLst/>
              <a:gdLst/>
              <a:ahLst/>
              <a:cxnLst/>
              <a:rect l="l" t="t" r="r" b="b"/>
              <a:pathLst>
                <a:path w="533345" h="533345">
                  <a:moveTo>
                    <a:pt x="0" y="0"/>
                  </a:moveTo>
                  <a:lnTo>
                    <a:pt x="533345" y="0"/>
                  </a:lnTo>
                  <a:lnTo>
                    <a:pt x="533345" y="533345"/>
                  </a:lnTo>
                  <a:lnTo>
                    <a:pt x="0" y="533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997728" y="7760916"/>
            <a:ext cx="7560733" cy="400009"/>
            <a:chOff x="0" y="0"/>
            <a:chExt cx="10080978" cy="533345"/>
          </a:xfrm>
        </p:grpSpPr>
        <p:sp>
          <p:nvSpPr>
            <p:cNvPr id="13" name="TextBox 13"/>
            <p:cNvSpPr txBox="1"/>
            <p:nvPr/>
          </p:nvSpPr>
          <p:spPr>
            <a:xfrm>
              <a:off x="870611" y="9627"/>
              <a:ext cx="9210366" cy="485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4"/>
                </a:lnSpc>
              </a:pPr>
              <a:r>
                <a:rPr lang="en-US" sz="2265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Limited by hardware and dataset size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533345" cy="533345"/>
            </a:xfrm>
            <a:custGeom>
              <a:avLst/>
              <a:gdLst/>
              <a:ahLst/>
              <a:cxnLst/>
              <a:rect l="l" t="t" r="r" b="b"/>
              <a:pathLst>
                <a:path w="533345" h="533345">
                  <a:moveTo>
                    <a:pt x="0" y="0"/>
                  </a:moveTo>
                  <a:lnTo>
                    <a:pt x="533345" y="0"/>
                  </a:lnTo>
                  <a:lnTo>
                    <a:pt x="533345" y="533345"/>
                  </a:lnTo>
                  <a:lnTo>
                    <a:pt x="0" y="533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4020648" y="2819587"/>
            <a:ext cx="537813" cy="237616"/>
          </a:xfrm>
          <a:custGeom>
            <a:avLst/>
            <a:gdLst/>
            <a:ahLst/>
            <a:cxnLst/>
            <a:rect l="l" t="t" r="r" b="b"/>
            <a:pathLst>
              <a:path w="537813" h="237616">
                <a:moveTo>
                  <a:pt x="0" y="0"/>
                </a:moveTo>
                <a:lnTo>
                  <a:pt x="537813" y="0"/>
                </a:lnTo>
                <a:lnTo>
                  <a:pt x="537813" y="237616"/>
                </a:lnTo>
                <a:lnTo>
                  <a:pt x="0" y="237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6997728" y="4242152"/>
            <a:ext cx="7560733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6997728" y="5303296"/>
            <a:ext cx="7560733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6997728" y="6364441"/>
            <a:ext cx="7560733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6997728" y="7425585"/>
            <a:ext cx="7560733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6997728" y="8486730"/>
            <a:ext cx="7560733" cy="0"/>
          </a:xfrm>
          <a:prstGeom prst="line">
            <a:avLst/>
          </a:prstGeom>
          <a:ln w="952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7188" y="4638480"/>
            <a:ext cx="6863894" cy="3948798"/>
            <a:chOff x="0" y="0"/>
            <a:chExt cx="9151859" cy="5265064"/>
          </a:xfrm>
        </p:grpSpPr>
        <p:grpSp>
          <p:nvGrpSpPr>
            <p:cNvPr id="3" name="Group 3"/>
            <p:cNvGrpSpPr/>
            <p:nvPr/>
          </p:nvGrpSpPr>
          <p:grpSpPr>
            <a:xfrm>
              <a:off x="254000" y="254000"/>
              <a:ext cx="8897859" cy="5011064"/>
              <a:chOff x="0" y="0"/>
              <a:chExt cx="1508954" cy="84980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508954" cy="849808"/>
              </a:xfrm>
              <a:custGeom>
                <a:avLst/>
                <a:gdLst/>
                <a:ahLst/>
                <a:cxnLst/>
                <a:rect l="l" t="t" r="r" b="b"/>
                <a:pathLst>
                  <a:path w="1508954" h="849808">
                    <a:moveTo>
                      <a:pt x="1384494" y="849807"/>
                    </a:moveTo>
                    <a:lnTo>
                      <a:pt x="124460" y="849807"/>
                    </a:lnTo>
                    <a:cubicBezTo>
                      <a:pt x="55880" y="849807"/>
                      <a:pt x="0" y="793927"/>
                      <a:pt x="0" y="72534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384494" y="0"/>
                    </a:lnTo>
                    <a:cubicBezTo>
                      <a:pt x="1453074" y="0"/>
                      <a:pt x="1508954" y="55880"/>
                      <a:pt x="1508954" y="124460"/>
                    </a:cubicBezTo>
                    <a:lnTo>
                      <a:pt x="1508954" y="725347"/>
                    </a:lnTo>
                    <a:cubicBezTo>
                      <a:pt x="1508954" y="793927"/>
                      <a:pt x="1453074" y="849808"/>
                      <a:pt x="1384494" y="849808"/>
                    </a:cubicBezTo>
                    <a:close/>
                  </a:path>
                </a:pathLst>
              </a:custGeom>
              <a:solidFill>
                <a:srgbClr val="050A30">
                  <a:alpha val="33725"/>
                </a:srgbClr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0" y="0"/>
              <a:ext cx="8897859" cy="5011064"/>
              <a:chOff x="0" y="0"/>
              <a:chExt cx="1508954" cy="84980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508954" cy="849808"/>
              </a:xfrm>
              <a:custGeom>
                <a:avLst/>
                <a:gdLst/>
                <a:ahLst/>
                <a:cxnLst/>
                <a:rect l="l" t="t" r="r" b="b"/>
                <a:pathLst>
                  <a:path w="1508954" h="849808">
                    <a:moveTo>
                      <a:pt x="1384494" y="849807"/>
                    </a:moveTo>
                    <a:lnTo>
                      <a:pt x="124460" y="849807"/>
                    </a:lnTo>
                    <a:cubicBezTo>
                      <a:pt x="55880" y="849807"/>
                      <a:pt x="0" y="793927"/>
                      <a:pt x="0" y="72534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384494" y="0"/>
                    </a:lnTo>
                    <a:cubicBezTo>
                      <a:pt x="1453074" y="0"/>
                      <a:pt x="1508954" y="55880"/>
                      <a:pt x="1508954" y="124460"/>
                    </a:cubicBezTo>
                    <a:lnTo>
                      <a:pt x="1508954" y="725347"/>
                    </a:lnTo>
                    <a:cubicBezTo>
                      <a:pt x="1508954" y="793927"/>
                      <a:pt x="1453074" y="849808"/>
                      <a:pt x="1384494" y="849808"/>
                    </a:cubicBezTo>
                    <a:close/>
                  </a:path>
                </a:pathLst>
              </a:custGeom>
              <a:solidFill>
                <a:srgbClr val="050A30"/>
              </a:solid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1176101" y="1152982"/>
              <a:ext cx="6545657" cy="270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32"/>
                </a:lnSpc>
              </a:pPr>
              <a:r>
                <a:rPr lang="en-US" sz="4443" b="1">
                  <a:solidFill>
                    <a:srgbClr val="F4F6FC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Graph 1: Training Loss Curve (Insert the provided graph)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96918" y="4638480"/>
            <a:ext cx="6863894" cy="3948798"/>
            <a:chOff x="0" y="0"/>
            <a:chExt cx="9151859" cy="5265064"/>
          </a:xfrm>
        </p:grpSpPr>
        <p:grpSp>
          <p:nvGrpSpPr>
            <p:cNvPr id="9" name="Group 9"/>
            <p:cNvGrpSpPr/>
            <p:nvPr/>
          </p:nvGrpSpPr>
          <p:grpSpPr>
            <a:xfrm>
              <a:off x="254000" y="254000"/>
              <a:ext cx="8897859" cy="5011064"/>
              <a:chOff x="0" y="0"/>
              <a:chExt cx="1508954" cy="84980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508954" cy="849808"/>
              </a:xfrm>
              <a:custGeom>
                <a:avLst/>
                <a:gdLst/>
                <a:ahLst/>
                <a:cxnLst/>
                <a:rect l="l" t="t" r="r" b="b"/>
                <a:pathLst>
                  <a:path w="1508954" h="849808">
                    <a:moveTo>
                      <a:pt x="1384494" y="849807"/>
                    </a:moveTo>
                    <a:lnTo>
                      <a:pt x="124460" y="849807"/>
                    </a:lnTo>
                    <a:cubicBezTo>
                      <a:pt x="55880" y="849807"/>
                      <a:pt x="0" y="793927"/>
                      <a:pt x="0" y="72534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384494" y="0"/>
                    </a:lnTo>
                    <a:cubicBezTo>
                      <a:pt x="1453074" y="0"/>
                      <a:pt x="1508954" y="55880"/>
                      <a:pt x="1508954" y="124460"/>
                    </a:cubicBezTo>
                    <a:lnTo>
                      <a:pt x="1508954" y="725347"/>
                    </a:lnTo>
                    <a:cubicBezTo>
                      <a:pt x="1508954" y="793927"/>
                      <a:pt x="1453074" y="849808"/>
                      <a:pt x="1384494" y="849808"/>
                    </a:cubicBezTo>
                    <a:close/>
                  </a:path>
                </a:pathLst>
              </a:custGeom>
              <a:solidFill>
                <a:srgbClr val="050A30">
                  <a:alpha val="33725"/>
                </a:srgbClr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8897859" cy="5011064"/>
              <a:chOff x="0" y="0"/>
              <a:chExt cx="1508954" cy="84980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508954" cy="849808"/>
              </a:xfrm>
              <a:custGeom>
                <a:avLst/>
                <a:gdLst/>
                <a:ahLst/>
                <a:cxnLst/>
                <a:rect l="l" t="t" r="r" b="b"/>
                <a:pathLst>
                  <a:path w="1508954" h="849808">
                    <a:moveTo>
                      <a:pt x="1384494" y="849807"/>
                    </a:moveTo>
                    <a:lnTo>
                      <a:pt x="124460" y="849807"/>
                    </a:lnTo>
                    <a:cubicBezTo>
                      <a:pt x="55880" y="849807"/>
                      <a:pt x="0" y="793927"/>
                      <a:pt x="0" y="72534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384494" y="0"/>
                    </a:lnTo>
                    <a:cubicBezTo>
                      <a:pt x="1453074" y="0"/>
                      <a:pt x="1508954" y="55880"/>
                      <a:pt x="1508954" y="124460"/>
                    </a:cubicBezTo>
                    <a:lnTo>
                      <a:pt x="1508954" y="725347"/>
                    </a:lnTo>
                    <a:cubicBezTo>
                      <a:pt x="1508954" y="793927"/>
                      <a:pt x="1453074" y="849808"/>
                      <a:pt x="1384494" y="849808"/>
                    </a:cubicBezTo>
                    <a:close/>
                  </a:path>
                </a:pathLst>
              </a:custGeom>
              <a:solidFill>
                <a:srgbClr val="050A30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76101" y="1152982"/>
              <a:ext cx="6545657" cy="270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32"/>
                </a:lnSpc>
              </a:pPr>
              <a:r>
                <a:rPr lang="en-US" sz="4443" b="1">
                  <a:solidFill>
                    <a:srgbClr val="F4F6FC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Graph 2: BLEU Score Trend (Insert the provided graph)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992146" y="4274594"/>
            <a:ext cx="6898936" cy="4630608"/>
          </a:xfrm>
          <a:custGeom>
            <a:avLst/>
            <a:gdLst/>
            <a:ahLst/>
            <a:cxnLst/>
            <a:rect l="l" t="t" r="r" b="b"/>
            <a:pathLst>
              <a:path w="6898936" h="4630608">
                <a:moveTo>
                  <a:pt x="0" y="0"/>
                </a:moveTo>
                <a:lnTo>
                  <a:pt x="6898936" y="0"/>
                </a:lnTo>
                <a:lnTo>
                  <a:pt x="6898936" y="4630608"/>
                </a:lnTo>
                <a:lnTo>
                  <a:pt x="0" y="463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1" t="-2898" r="-1831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396918" y="4274594"/>
            <a:ext cx="6950255" cy="4630608"/>
          </a:xfrm>
          <a:custGeom>
            <a:avLst/>
            <a:gdLst/>
            <a:ahLst/>
            <a:cxnLst/>
            <a:rect l="l" t="t" r="r" b="b"/>
            <a:pathLst>
              <a:path w="6950255" h="4630608">
                <a:moveTo>
                  <a:pt x="0" y="0"/>
                </a:moveTo>
                <a:lnTo>
                  <a:pt x="6950255" y="0"/>
                </a:lnTo>
                <a:lnTo>
                  <a:pt x="6950255" y="4630608"/>
                </a:lnTo>
                <a:lnTo>
                  <a:pt x="0" y="463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92146" y="1831253"/>
            <a:ext cx="1430370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</a:pPr>
            <a:r>
              <a:rPr lang="en-US" sz="80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Training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0392" y="1680480"/>
            <a:ext cx="13610879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99"/>
              </a:lnSpc>
            </a:pPr>
            <a:r>
              <a:rPr lang="en-US" sz="8499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Observations &amp; Challenges</a:t>
            </a:r>
          </a:p>
        </p:txBody>
      </p:sp>
      <p:sp>
        <p:nvSpPr>
          <p:cNvPr id="3" name="AutoShape 3"/>
          <p:cNvSpPr/>
          <p:nvPr/>
        </p:nvSpPr>
        <p:spPr>
          <a:xfrm>
            <a:off x="1460392" y="1028700"/>
            <a:ext cx="15367217" cy="0"/>
          </a:xfrm>
          <a:prstGeom prst="line">
            <a:avLst/>
          </a:prstGeom>
          <a:ln w="28575" cap="rnd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460392" y="4773401"/>
            <a:ext cx="15367217" cy="4484899"/>
            <a:chOff x="0" y="0"/>
            <a:chExt cx="20489622" cy="5979865"/>
          </a:xfrm>
        </p:grpSpPr>
        <p:sp>
          <p:nvSpPr>
            <p:cNvPr id="5" name="TextBox 5"/>
            <p:cNvSpPr txBox="1"/>
            <p:nvPr/>
          </p:nvSpPr>
          <p:spPr>
            <a:xfrm>
              <a:off x="0" y="653128"/>
              <a:ext cx="20489622" cy="461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Observations: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Captions generated were basic, sometimes semantically correct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Attention improved coherence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Challenges: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Limited system memory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Low BLEU score due to dataset constraints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Caption diversity affected performance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19050"/>
              <a:ext cx="20489622" cy="0"/>
            </a:xfrm>
            <a:prstGeom prst="line">
              <a:avLst/>
            </a:prstGeom>
            <a:ln w="38100" cap="rnd">
              <a:solidFill>
                <a:srgbClr val="050A3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>
              <a:off x="0" y="5960815"/>
              <a:ext cx="20489622" cy="0"/>
            </a:xfrm>
            <a:prstGeom prst="line">
              <a:avLst/>
            </a:prstGeom>
            <a:ln w="38100" cap="rnd">
              <a:solidFill>
                <a:srgbClr val="050A30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12371" y="1927267"/>
            <a:ext cx="10863257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69"/>
              </a:lnSpc>
              <a:spcBef>
                <a:spcPct val="0"/>
              </a:spcBef>
            </a:pPr>
            <a:r>
              <a:rPr lang="en-US" sz="7724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Learning Outcomes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4798" y="5682011"/>
            <a:ext cx="458005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</a:pPr>
            <a:r>
              <a:rPr lang="en-US" sz="3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Full understanding of image captioning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3971" y="5682011"/>
            <a:ext cx="458005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Hands-on with CNN-RNN + attention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73145" y="5682011"/>
            <a:ext cx="4580058" cy="817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5"/>
              </a:lnSpc>
              <a:spcBef>
                <a:spcPct val="0"/>
              </a:spcBef>
            </a:pPr>
            <a:r>
              <a:rPr lang="en-US" sz="2868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Improved problem-solving in model debugging &amp; tuning</a:t>
            </a:r>
          </a:p>
        </p:txBody>
      </p:sp>
      <p:sp>
        <p:nvSpPr>
          <p:cNvPr id="6" name="Freeform 6"/>
          <p:cNvSpPr/>
          <p:nvPr/>
        </p:nvSpPr>
        <p:spPr>
          <a:xfrm>
            <a:off x="3273563" y="3829650"/>
            <a:ext cx="1302528" cy="1302528"/>
          </a:xfrm>
          <a:custGeom>
            <a:avLst/>
            <a:gdLst/>
            <a:ahLst/>
            <a:cxnLst/>
            <a:rect l="l" t="t" r="r" b="b"/>
            <a:pathLst>
              <a:path w="1302528" h="1302528">
                <a:moveTo>
                  <a:pt x="0" y="0"/>
                </a:moveTo>
                <a:lnTo>
                  <a:pt x="1302527" y="0"/>
                </a:lnTo>
                <a:lnTo>
                  <a:pt x="1302527" y="1302528"/>
                </a:lnTo>
                <a:lnTo>
                  <a:pt x="0" y="1302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492736" y="3829650"/>
            <a:ext cx="1302528" cy="1302528"/>
          </a:xfrm>
          <a:custGeom>
            <a:avLst/>
            <a:gdLst/>
            <a:ahLst/>
            <a:cxnLst/>
            <a:rect l="l" t="t" r="r" b="b"/>
            <a:pathLst>
              <a:path w="1302528" h="1302528">
                <a:moveTo>
                  <a:pt x="0" y="0"/>
                </a:moveTo>
                <a:lnTo>
                  <a:pt x="1302528" y="0"/>
                </a:lnTo>
                <a:lnTo>
                  <a:pt x="1302528" y="1302528"/>
                </a:lnTo>
                <a:lnTo>
                  <a:pt x="0" y="1302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11910" y="3829650"/>
            <a:ext cx="1302528" cy="1302528"/>
          </a:xfrm>
          <a:custGeom>
            <a:avLst/>
            <a:gdLst/>
            <a:ahLst/>
            <a:cxnLst/>
            <a:rect l="l" t="t" r="r" b="b"/>
            <a:pathLst>
              <a:path w="1302528" h="1302528">
                <a:moveTo>
                  <a:pt x="0" y="0"/>
                </a:moveTo>
                <a:lnTo>
                  <a:pt x="1302527" y="0"/>
                </a:lnTo>
                <a:lnTo>
                  <a:pt x="1302527" y="1302528"/>
                </a:lnTo>
                <a:lnTo>
                  <a:pt x="0" y="1302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96193" y="2232798"/>
            <a:ext cx="12741423" cy="5821403"/>
            <a:chOff x="0" y="0"/>
            <a:chExt cx="16988563" cy="7761871"/>
          </a:xfrm>
        </p:grpSpPr>
        <p:sp>
          <p:nvSpPr>
            <p:cNvPr id="3" name="TextBox 3"/>
            <p:cNvSpPr txBox="1"/>
            <p:nvPr/>
          </p:nvSpPr>
          <p:spPr>
            <a:xfrm>
              <a:off x="0" y="2516348"/>
              <a:ext cx="16988563" cy="5245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Conclusion:</a:t>
              </a:r>
            </a:p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Achieved end-to-end pipeline with basic output</a:t>
              </a:r>
            </a:p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Highlighted importance of data and tuning</a:t>
              </a:r>
            </a:p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Future Scope:</a:t>
              </a:r>
            </a:p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Use Transformer models</a:t>
              </a:r>
            </a:p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Larger datasets (e.g., MS COCO)</a:t>
              </a:r>
            </a:p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Web/app deployment</a:t>
              </a:r>
            </a:p>
            <a:p>
              <a:pPr marL="604524" lvl="1" indent="-302262" algn="l">
                <a:lnSpc>
                  <a:spcPts val="39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800" b="1">
                  <a:solidFill>
                    <a:srgbClr val="050A3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• Beam search for better captioning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52400"/>
              <a:ext cx="16988563" cy="1525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86"/>
                </a:lnSpc>
              </a:pPr>
              <a:r>
                <a:rPr lang="en-US" sz="8286" b="1">
                  <a:solidFill>
                    <a:srgbClr val="050A3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Conclusion &amp; Future Scope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31100" y="0"/>
            <a:ext cx="10756900" cy="10287000"/>
            <a:chOff x="0" y="0"/>
            <a:chExt cx="28330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3093" cy="2709333"/>
            </a:xfrm>
            <a:custGeom>
              <a:avLst/>
              <a:gdLst/>
              <a:ahLst/>
              <a:cxnLst/>
              <a:rect l="l" t="t" r="r" b="b"/>
              <a:pathLst>
                <a:path w="2833093" h="2709333">
                  <a:moveTo>
                    <a:pt x="0" y="0"/>
                  </a:moveTo>
                  <a:lnTo>
                    <a:pt x="2833093" y="0"/>
                  </a:lnTo>
                  <a:lnTo>
                    <a:pt x="28330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833093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853487" y="2778471"/>
            <a:ext cx="8718021" cy="54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  <a:spcBef>
                <a:spcPct val="0"/>
              </a:spcBef>
            </a:pPr>
            <a:r>
              <a:rPr lang="en-US" sz="4147" b="1" u="none" strike="noStrik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Nayan Pandey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53487" y="3844607"/>
            <a:ext cx="8718021" cy="54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  <a:spcBef>
                <a:spcPct val="0"/>
              </a:spcBef>
            </a:pPr>
            <a:r>
              <a:rPr lang="en-US" sz="4147" b="1" u="none" strike="noStrik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Saifee Mohammad Khizar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53487" y="5976877"/>
            <a:ext cx="8718021" cy="54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  <a:spcBef>
                <a:spcPct val="0"/>
              </a:spcBef>
            </a:pPr>
            <a:r>
              <a:rPr lang="en-US" sz="4147" b="1" u="none" strike="noStrike" dirty="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Arshad Khan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53487" y="4910742"/>
            <a:ext cx="8718021" cy="54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  <a:spcBef>
                <a:spcPct val="0"/>
              </a:spcBef>
            </a:pPr>
            <a:r>
              <a:rPr lang="en-US" sz="4147" b="1" u="none" strike="noStrik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Krish Tare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53487" y="7043013"/>
            <a:ext cx="8718021" cy="54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3"/>
              </a:lnSpc>
              <a:spcBef>
                <a:spcPct val="0"/>
              </a:spcBef>
            </a:pPr>
            <a:r>
              <a:rPr lang="en-US" sz="4147" b="1" u="none" strike="noStrike" dirty="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• Abhishek Gupta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4300" y="4224371"/>
            <a:ext cx="5477525" cy="1441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670" b="1" u="non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Team Contributions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391</Words>
  <Application>Microsoft Office PowerPoint</Application>
  <PresentationFormat>Custom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HK Grotesk Bold</vt:lpstr>
      <vt:lpstr>HK Grotesk Medium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</dc:title>
  <dc:creator>Admin</dc:creator>
  <cp:lastModifiedBy>Nayan Pandey</cp:lastModifiedBy>
  <cp:revision>2</cp:revision>
  <dcterms:created xsi:type="dcterms:W3CDTF">2006-08-16T00:00:00Z</dcterms:created>
  <dcterms:modified xsi:type="dcterms:W3CDTF">2025-05-23T10:19:09Z</dcterms:modified>
  <dc:identifier>DAGoLc0RHTs</dc:identifier>
</cp:coreProperties>
</file>